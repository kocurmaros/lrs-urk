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image" Target="../media/image-15-2.jpg"/><Relationship Id="rId3" Type="http://schemas.openxmlformats.org/officeDocument/2006/relationships/image" Target="../media/image-1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41-1.mp4"/><Relationship Id="rId2" Type="http://schemas.microsoft.com/office/2007/relationships/media" Target="../media/media-41-1.mp4"/><Relationship Id="rId3" Type="http://schemas.openxmlformats.org/officeDocument/2006/relationships/image" Target="../media/image-4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A9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LIETAJÚCE ROBOTICKÉ SYSTÉMY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Cvičenie 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Organizácia semestra  ·  Základy dronov  ·  ROS 2 + SITL + MAVROS  ·  Zadanie 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Eduard Zelenay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(D605)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Maroš Kocúr 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(D613)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KocurMaros/LRS-URK  ·  vetva exams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01752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Organizácia semestra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Zadania, bodovanie a termíny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ORGANIZÁCIA SEMESTRA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Dve zadania, jeden test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463040"/>
        </p:xfrm>
        <a:graphic>
          <a:graphicData uri="http://schemas.openxmlformats.org/drawingml/2006/table">
            <a:tbl>
              <a:tblPr/>
              <a:tblGrid>
                <a:gridCol w="1554480"/>
                <a:gridCol w="6675120"/>
                <a:gridCol w="100584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Zadanie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Autonómna misia — indoor + outdoor (povinné, rovnaké pre všetkých)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koniec 6. týždňa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Zadanie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Vyberiete si jednu z ponúkaných tém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koniec 12. týždňa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Krátky písomný test z prednáškovej látky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polovica semestra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5468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15468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17233D"/>
                </a:solidFill>
              </a:rPr>
              <a:t>Spolu: </a:t>
            </a:r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065A82"/>
                </a:solidFill>
              </a:rPr>
              <a:t>40 bodov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5647F"/>
                </a:solidFill>
              </a:rPr>
              <a:t>   (20 + 10 + 10). Zadanie 1 je štvordielne — A1.1 až A1.4 — dá sa odovzdávať a obhajovať priebežne.</a:t>
            </a:r>
            <a:endParaRPr lang="en-US" sz="145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64240" cy="2377440"/>
        </p:xfrm>
        <a:graphic>
          <a:graphicData uri="http://schemas.openxmlformats.org/drawingml/2006/table">
            <a:tbl>
              <a:tblPr/>
              <a:tblGrid>
                <a:gridCol w="1188720"/>
                <a:gridCol w="987552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Týždeň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Čo sa deje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Setup: gz sim, ArduPilot SITL, MAVROS, ROS 2 workspace. Zadanie 1 zadané.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A1.1 mapovanie a plánovanie · A1.2 riadiaci uzol, indoor let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A1.3 outdoor GPS misia (najskôr možný let na reálnom dróne) · integrácia, A1.4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Zadania 1. Obhajoba. Predstavenie tém Zadania 2.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Výber témy Zadania 2.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Práca na Zadaní 2, konzultácie. V tomto období aj test z prednášok.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 Zadania 2. Obhajoba na poslednom cvičení.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>
                    <a:lnL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BODOVANIE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Hranica na pripustenie k testu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206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56 %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 súčtu Zadanie 1 + Zadanie 2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(≥ 16.8 z 30 bodov)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166360" y="1691640"/>
            <a:ext cx="6355080" cy="3977640"/>
          </a:xfrm>
          <a:prstGeom prst="roundRect">
            <a:avLst>
              <a:gd name="adj" fmla="val 1839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40680" y="1874520"/>
            <a:ext cx="5852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Počíta sa to spolu, nie zvlášť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440680" y="2377440"/>
            <a:ext cx="5806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z prednášok nie je touto hranicou dotknutý — to je vec prednášajúceho.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20/20 zo Zadania 1 a 0/10 zo Zadania 2 → 20/30 = 66,7 % — spĺňa hranicu.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12/20 zo Zadania 1 a 6/10 zo Zadania 2 → 18/30 = 60 % — tiež spĺňa.</a:t>
            </a:r>
            <a:endParaRPr lang="en-US" sz="14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00" b="1" dirty="0">
                <a:solidFill>
                  <a:srgbClr val="C2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Neskoré odovzdanie zráža body ešte PRED kontrolou hranice — pozri ďalší slajd.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BODOVANIE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Neskoré odovzdanie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začatý týždeň po deadline stojí 10 % z bodov, ktoré ste na danom zadaní získali.</a:t>
            </a:r>
            <a:endParaRPr lang="en-US" sz="15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7680960" cy="2743200"/>
        </p:xfrm>
        <a:graphic>
          <a:graphicData uri="http://schemas.openxmlformats.org/drawingml/2006/table">
            <a:tbl>
              <a:tblPr/>
              <a:tblGrid>
                <a:gridCol w="3291840"/>
                <a:gridCol w="201168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Odovzdané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Násobiteľ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Príklad: 16 b získaných na Zadaní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Včas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1.00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týždeň po termíne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0.90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týždne po termíne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0.80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týždne po termíne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0.70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týždne po termíne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 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458200" y="2331720"/>
            <a:ext cx="3154680" cy="2743200"/>
          </a:xfrm>
          <a:prstGeom prst="roundRect">
            <a:avLst>
              <a:gd name="adj" fmla="val 2667"/>
            </a:avLst>
          </a:prstGeom>
          <a:solidFill>
            <a:srgbClr val="FBEDEA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686800" y="2514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2432B"/>
                </a:solidFill>
              </a:rPr>
              <a:t>⚠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8732520" y="2971800"/>
            <a:ext cx="26517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Zrážka sa uplatní PRED kontrolou 56 % hranice — neskoré odovzdanie vás z nej môže vyradiť, aj keď bol pôvodný výkon v poriadku. Plánujte podľa toho.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REÁLNY DRON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Lietanie na reálnom UAV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4. do 12. týždňa si môžete odomknúť lietanie vonku na reálnom dróne — nie automaticky, ale po splnení všetkých podmienok: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3317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je kompletne odovzdané — všetky štyri podzadania, kód v repozitári, napísaná dokumentácia.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329184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Absolvovali ste konzultáciu s cvičiacim — prejdete kódom a ukážete misiu lietať v simulácii.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51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425196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Absolvovali ste bezpečnostné školenie a vaša misia prejde pred-letovou kontrolou z A1.3.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BEDEA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2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Vždy s učiteľom a bezpečnostným pilotom s RC vysielačom, ktorý môže kedykoľvek prevziať riadenie.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Reálny let neprináša extra body — je to len odmena za skorší postup; všetko sa hodnotí zo simulácie.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PRACOVAŤ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história a konzultácie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— bez bodov, ale s pokutou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samotné používanie gitu nie sú body, ale neprehľadná história (jeden commit tesne pred deadlinom, prepísaná/force-pushnutá história, tímový commit bez rozlíšenia autora) body zráža.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Stačí zopár čestných, priebežných commitov od toho, kto danú časť naozaj napísal.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Odporúčaný postup: main → devel → vetva na osobu/feature → PR do devel (merge bez squashu) → na konci squash devel → main.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440680" cy="3977640"/>
          </a:xfrm>
          <a:prstGeom prst="roundRect">
            <a:avLst>
              <a:gd name="adj" fmla="val 1839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8745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Konzultácie a pomoc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446520" y="24231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Najrýchlejšie: pýtajte sa priamo na cvičení.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Napíšte cvičiacemu na Teams — konkrétna otázka, čo ste skúšali, presná chybová hláška, kúsok kódu.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Dohodnite si súkromnú konzultáciu — online alebo osobne.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Konzultačné hodiny má každý učiteľ zverejnené v AIS.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Nesedte zaseknutí týždeň — päť minút otázky v utorok má väčšiu hodnotu než päť hodín hádania v nedeľu.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01752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Základy dronov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Komponenty, pohon, riadenie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Laboratórium LRS</a:t>
            </a:r>
            <a:endParaRPr lang="en-US" sz="3000" dirty="0"/>
          </a:p>
        </p:txBody>
      </p:sp>
      <p:pic>
        <p:nvPicPr>
          <p:cNvPr id="4" name="Image 0" descr="/tmp/slide_media/LRS/slide_05/img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5212080" cy="3498519"/>
          </a:xfrm>
          <a:prstGeom prst="rect">
            <a:avLst/>
          </a:prstGeom>
        </p:spPr>
      </p:pic>
      <p:pic>
        <p:nvPicPr>
          <p:cNvPr id="5" name="Image 1" descr="/tmp/slide_media/LRS/slide_05/img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691640"/>
            <a:ext cx="5212080" cy="3504915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71500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822960" y="57150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OptiTrack priestor 20 × 15 × 6 m</a:t>
            </a:r>
            <a:pPr indent="0" marL="0">
              <a:buNone/>
            </a:pPr>
            <a:r>
              <a:rPr lang="en-US" sz="135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motion-capture systém pre presnú lokalizáciu v laboratóriu, nezávisle od GPS.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Celkový pohľad na multirotor UAV</a:t>
            </a:r>
            <a:endParaRPr lang="en-US" sz="3000" dirty="0"/>
          </a:p>
        </p:txBody>
      </p:sp>
      <p:pic>
        <p:nvPicPr>
          <p:cNvPr id="4" name="Image 0" descr="/tmp/slide_media/LRS/slide_14/img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1737360"/>
            <a:ext cx="6949440" cy="42666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691640"/>
            <a:ext cx="365760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Pohon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motory, ESC, vrtule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Napájanie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Li-Po / Li-Ion batéria, power module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Autopilot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IMU, barometer, kompas, GPS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Rádiové spojenie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 prijímač, telemetria, GCS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Aplikačný počítač</a:t>
            </a:r>
            <a:endParaRPr lang="en-US" sz="1350" dirty="0"/>
          </a:p>
          <a:p>
            <a:pPr lvl="1" marL="457200" indent="-228600">
              <a:lnSpc>
                <a:spcPct val="108000"/>
              </a:lnSpc>
              <a:spcAft>
                <a:spcPts val="600"/>
              </a:spcAft>
              <a:buSzPct val="100000"/>
              <a:buChar char="–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kamera, vyšší-úrovňové riadenie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 · POHONNÉ SYSTÉMY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Elektromotory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114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menšie drony, 0–6 V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(bezkefkový)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outrunner konštrukcia, typicky 12–60 V napájanie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BLDC potrebuje elektronickú komutáciu — na to slúži ESC (ďalší slajd).</a:t>
            </a:r>
            <a:endParaRPr lang="en-US" sz="1500" dirty="0"/>
          </a:p>
        </p:txBody>
      </p:sp>
      <p:pic>
        <p:nvPicPr>
          <p:cNvPr id="5" name="Image 0" descr="/tmp/slide_media/LRS/slide_07/img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461935"/>
            <a:ext cx="2057400" cy="2482770"/>
          </a:xfrm>
          <a:prstGeom prst="rect">
            <a:avLst/>
          </a:prstGeom>
        </p:spPr>
      </p:pic>
      <p:pic>
        <p:nvPicPr>
          <p:cNvPr id="6" name="Image 1" descr="/tmp/slide_media/LRS/slide_07/img_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984280"/>
            <a:ext cx="2057400" cy="1438081"/>
          </a:xfrm>
          <a:prstGeom prst="rect">
            <a:avLst/>
          </a:prstGeom>
        </p:spPr>
      </p:pic>
      <p:pic>
        <p:nvPicPr>
          <p:cNvPr id="7" name="Image 2" descr="/tmp/slide_media/LRS/slide_07/img_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0" y="2742821"/>
            <a:ext cx="2057400" cy="192099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 · POHONNÉ SYSTÉMY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Frekvenčné meniče (ESC)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Označované aj ako ESC — electronic speed controller.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Riadenie</a:t>
            </a:r>
            <a:endParaRPr lang="en-US" sz="1550" dirty="0"/>
          </a:p>
          <a:p>
            <a:pPr lvl="1" marL="4572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5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komutácia, alebo FOC (field-oriented control) — vektorové riadenie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300"/>
              </a:spcAft>
              <a:buSzPct val="100000"/>
              <a:buChar char="▪"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Komunikačný protokol</a:t>
            </a:r>
            <a:endParaRPr lang="en-US" sz="1550" dirty="0"/>
          </a:p>
          <a:p>
            <a:pPr lvl="1" marL="457200" indent="-228600">
              <a:lnSpc>
                <a:spcPct val="108000"/>
              </a:lnSpc>
              <a:spcAft>
                <a:spcPts val="1300"/>
              </a:spcAft>
              <a:buSzPct val="100000"/>
              <a:buChar char="–"/>
            </a:pPr>
            <a:r>
              <a:rPr lang="en-US" sz="15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PWM, UART, CAN</a:t>
            </a:r>
            <a:endParaRPr lang="en-US" sz="1550" dirty="0"/>
          </a:p>
        </p:txBody>
      </p:sp>
      <p:pic>
        <p:nvPicPr>
          <p:cNvPr id="5" name="Image 0" descr="/tmp/slide_media/LRS/slide_08/img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828800"/>
            <a:ext cx="2743200" cy="2044460"/>
          </a:xfrm>
          <a:prstGeom prst="rect">
            <a:avLst/>
          </a:prstGeom>
        </p:spPr>
      </p:pic>
      <p:pic>
        <p:nvPicPr>
          <p:cNvPr id="6" name="Image 1" descr="/tmp/slide_media/LRS/slide_08/img_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101860"/>
            <a:ext cx="5120640" cy="1879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 · POHONNÉ SYSTÉMY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Vrtule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Konštrukcia</a:t>
            </a:r>
            <a:endParaRPr lang="en-US" sz="1550" dirty="0"/>
          </a:p>
          <a:p>
            <a:pPr lvl="1" marL="457200" indent="-2286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pevné, alebo sklopné (skladacie — kompaktnejší transport)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5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Materiál</a:t>
            </a:r>
            <a:endParaRPr lang="en-US" sz="1550" dirty="0"/>
          </a:p>
          <a:p>
            <a:pPr lvl="1" marL="457200" indent="-228600">
              <a:lnSpc>
                <a:spcPct val="108000"/>
              </a:lnSpc>
              <a:spcAft>
                <a:spcPts val="1400"/>
              </a:spcAft>
              <a:buSzPct val="100000"/>
              <a:buChar char="–"/>
            </a:pPr>
            <a:r>
              <a:rPr lang="en-US" sz="15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uhlíkové vlákno (tuhé, ľahké), plast (lacné, pružné), drevo (tiché, tuhé)</a:t>
            </a:r>
            <a:endParaRPr lang="en-US" sz="1550" dirty="0"/>
          </a:p>
        </p:txBody>
      </p:sp>
      <p:pic>
        <p:nvPicPr>
          <p:cNvPr id="5" name="Image 0" descr="/tmp/slide_media/LRS/slide_09/img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2797088"/>
            <a:ext cx="2720340" cy="1995344"/>
          </a:xfrm>
          <a:prstGeom prst="rect">
            <a:avLst/>
          </a:prstGeom>
        </p:spPr>
      </p:pic>
      <p:pic>
        <p:nvPicPr>
          <p:cNvPr id="6" name="Image 1" descr="/tmp/slide_media/LRS/slide_09/img_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2540" y="2747806"/>
            <a:ext cx="2720340" cy="20939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Napájanie — Li-Po vs Li-Ion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Li-Pol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vyššie vybíjacie prúdy — desiatky C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nižšia energetická hustota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mechanicky menej odolné puzdro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U/článok: 4.2–4.4 V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príklad konfigurácie: 6S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691640"/>
            <a:ext cx="5349240" cy="4114800"/>
          </a:xfrm>
          <a:prstGeom prst="roundRect">
            <a:avLst>
              <a:gd name="adj" fmla="val 1778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8745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Li-Ion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55080" y="2331720"/>
            <a:ext cx="47548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nižšie vybíjacie prúdy — jednotky C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vyššia energetická hustota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mechanicky pevné puzdro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U/článok: 4.2 V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100"/>
              </a:spcAft>
              <a:buSzPct val="100000"/>
              <a:buChar char="▪"/>
            </a:pPr>
            <a:r>
              <a:rPr lang="en-US" sz="13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príklad konfigurácie: 6S3P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Autopilotné systémy — HW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297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Integrované snímače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IMU, barometer, magnetometer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Moderné systémy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vyhrievané IMU (teplotná stabilita)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vibračné oddelenie (mechanický filter šumu)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modulárna konštrukcia (výmenné senzorové dosky)</a:t>
            </a:r>
            <a:endParaRPr lang="en-US" sz="1500" dirty="0"/>
          </a:p>
        </p:txBody>
      </p:sp>
      <p:pic>
        <p:nvPicPr>
          <p:cNvPr id="5" name="Image 0" descr="/tmp/slide_media/LRS/slide_11/img_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737360"/>
            <a:ext cx="3291840" cy="2071838"/>
          </a:xfrm>
          <a:prstGeom prst="rect">
            <a:avLst/>
          </a:prstGeom>
        </p:spPr>
      </p:pic>
      <p:pic>
        <p:nvPicPr>
          <p:cNvPr id="6" name="Image 1" descr="/tmp/slide_media/LRS/slide_11/img_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37360"/>
            <a:ext cx="2651760" cy="2651760"/>
          </a:xfrm>
          <a:prstGeom prst="rect">
            <a:avLst/>
          </a:prstGeom>
        </p:spPr>
      </p:pic>
      <p:pic>
        <p:nvPicPr>
          <p:cNvPr id="7" name="Image 2" descr="/tmp/slide_media/LRS/slide_11/img_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3992078"/>
            <a:ext cx="3108960" cy="179905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GNSS lokalizácia a komunikačné moduly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GNSS lokalizácia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prijímače — GPS, GLONASS, Galileo…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RTK</a:t>
            </a:r>
            <a:endParaRPr lang="en-US" sz="145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kinematic — korekcie polohy na centimetrovú presnosť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80760" y="173736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9202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Komunikačné moduly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5080" y="242316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Rádio: 434 MHz, 868 MHz, 915 MHz, 2.4 GHz, 5 GHz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Proprietárne FHSS protokoly (frequency-hopping)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</a:t>
            </a:r>
            <a:endParaRPr lang="en-US" sz="14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4G, 5G — pre dosah nad rámec priamej viditeľnosti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Aplikačné počítače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Slúžia na vysokoúrovňové riadenie: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zložité lokalizačné a navigačné algoritmy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vizuálno-inerciálna odometria (VIO)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reaktívna navigácia pomocou stereovízie</a:t>
            </a:r>
            <a:endParaRPr lang="en-US" sz="15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sledovanie a inšpekcia</a:t>
            </a:r>
            <a:endParaRPr lang="en-US" sz="15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Zvyčajne proprietárne počítače s OS Linux — často sa využíva aj ROS.</a:t>
            </a:r>
            <a:endParaRPr lang="en-US" sz="1500" dirty="0"/>
          </a:p>
        </p:txBody>
      </p:sp>
      <p:pic>
        <p:nvPicPr>
          <p:cNvPr id="5" name="Image 0" descr="/tmp/slide_media/LRS/slide_13/img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737360"/>
            <a:ext cx="4114800" cy="31231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ZÁKLADY DRONOV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Riadenie UAV — dve úrovne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4206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Attitude controller</a:t>
            </a:r>
            <a:endParaRPr lang="en-US" sz="16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stabilizuje sklon a natočenie (roll/pitch/yaw) — beží na autopilote, stovky Hz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controller</a:t>
            </a:r>
            <a:endParaRPr lang="en-US" sz="1600" dirty="0"/>
          </a:p>
          <a:p>
            <a:pPr lvl="1" marL="457200" indent="-228600">
              <a:lnSpc>
                <a:spcPct val="108000"/>
              </a:lnSpc>
              <a:spcAft>
                <a:spcPts val="1200"/>
              </a:spcAft>
              <a:buSzPct val="100000"/>
              <a:buChar char="–"/>
            </a:pPr>
            <a:r>
              <a:rPr lang="en-US" sz="14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riadi polohu v priestore — buď priamo na autopilote (GUIDED), alebo z vášho ROS 2 uzla cez MAVROS</a:t>
            </a:r>
            <a:endParaRPr lang="en-US" sz="160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Váš kód v tomto predmete píše prevažne position-level príkazy — autopilot sa postará o stabilitu.</a:t>
            </a:r>
            <a:endParaRPr lang="en-US" sz="1600" dirty="0"/>
          </a:p>
        </p:txBody>
      </p:sp>
      <p:pic>
        <p:nvPicPr>
          <p:cNvPr id="5" name="Image 0" descr="/tmp/slide_media/LRS/slide_16/img_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011680"/>
            <a:ext cx="6905215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37760" y="5669280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647F"/>
                </a:solidFill>
              </a:rPr>
              <a:t>ArduCopter V4.x — STABILIZE roll/pitch/yaw PID kaskáda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01752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+ SITL + MAVROS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simulácie po váš prvý uzol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ArduCopter a SITL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ArduCopter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33D"/>
                </a:solidFill>
              </a:rPr>
              <a:t> — firmvér (softvér bežiaci priamo na hardvéri) pre riadiacu dosku drona, napr. Pixhawk. Je to „mozog" drona: spracováva príkazy, stabilizuje let a riadi motory.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065A82"/>
                </a:solidFill>
              </a:rPr>
              <a:t>SITL</a:t>
            </a:r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7233D"/>
                </a:solidFill>
              </a:rPr>
              <a:t> (Software-In-The-Loop) — ArduCopter beží ako obyčajný proces na vašom počítači namiesto na reálnom hardvéri. Simuluje let bez potreby fyzického drona — presne to použijeme na cvičeniach.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Reťazec simulácie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464515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(gz sim)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510235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fyzika, senzory, vizualizácia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9584" y="457200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464515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ArduPilot SITL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02736" y="510235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firmvér letovej riadiacej jednotky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36208" y="457200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464515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MAVROS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09360" y="510235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do ROS 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42832" y="4572000"/>
            <a:ext cx="2450592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E4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15984" y="464515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Váš uzol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015984" y="5102352"/>
            <a:ext cx="23042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plánovanie a riadenie misie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46120" y="493776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52744" y="493776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59368" y="493776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MAVROS — most medzi ROS 2 a dronom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MAVROS prekladá medzi ROS 2 správami a protokolom MAVLink, obojsmerne: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→ ArduCopter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MAVROS prijíma príkazy z vášho ROS 2 uzla (vzlietnutie, posun, pristátie) a prekladá ich do MAVLink správ, ktorým rozumie ArduCopter.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2331720"/>
            <a:ext cx="5349240" cy="3291840"/>
          </a:xfrm>
          <a:prstGeom prst="roundRect">
            <a:avLst>
              <a:gd name="adj" fmla="val 2222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55080" y="25146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ArduCopter → ROS 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55080" y="297180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MAVROS prekladá dáta z ArduCopter (aktuálna pozícia, stav batérie, rýchlosť…) do ROS 2 správ, ktoré spracujete vo svojich uzloch.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Spustenie simulácie — tri terminály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Vždy ručne, po jednom skripte na terminál. Žiadny launch súbor to nespojí za vás — vedieť, čo robí každý proces, je súčasť zadania.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64240" cy="2331720"/>
          </a:xfrm>
          <a:prstGeom prst="roundRect">
            <a:avLst>
              <a:gd name="adj" fmla="val 2353"/>
            </a:avLst>
          </a:prstGeom>
          <a:solidFill>
            <a:srgbClr val="13223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67712"/>
            <a:ext cx="10552176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Terminál 1 — Gazebo (predvolene fei_lrs_gazebo.world)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7F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scripts/run_gazebo.sh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Terminál 2 — ArduPilot SITL, premostené na bežiace Gazebo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7F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scripts/run_sitl.sh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Terminál 3 — MAVROS, premostené na SITL</a:t>
            </a:r>
            <a:endParaRPr lang="en-US" sz="1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B7F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scripts/run_mavros.sh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7548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D"/>
                </a:solidFill>
              </a:rPr>
              <a:t>Skontrolujte, že to naozaj beží: </a:t>
            </a:r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list</a:t>
            </a:r>
            <a:pPr indent="0" marL="0">
              <a:buNone/>
            </a:pPr>
            <a:r>
              <a:rPr lang="en-US" sz="1350" dirty="0">
                <a:solidFill>
                  <a:srgbClr val="17233D"/>
                </a:solidFill>
              </a:rPr>
              <a:t> musí ukázať </a:t>
            </a:r>
            <a:pPr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/mavros/...</a:t>
            </a:r>
            <a:pPr indent="0" marL="0">
              <a:buNone/>
            </a:pPr>
            <a:r>
              <a:rPr lang="en-US" sz="1350" dirty="0">
                <a:solidFill>
                  <a:srgbClr val="17233D"/>
                </a:solidFill>
              </a:rPr>
              <a:t> topiky skôr, než začnete čokoľvek ďalšie.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5647F"/>
                </a:solidFill>
              </a:rPr>
              <a:t>Verzie Gazebo (Jetty vs. Harmonic) sú najčastejší dôvod, prečo sa plugin nenačíta alebo dron v scéne chýba — pozri „A note on Gazebo versions" v README pred debugovaním.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 2 workspace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3108960"/>
          </a:xfrm>
          <a:prstGeom prst="roundRect">
            <a:avLst>
              <a:gd name="adj" fmla="val 1765"/>
            </a:avLst>
          </a:prstGeom>
          <a:solidFill>
            <a:srgbClr val="13223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56232"/>
            <a:ext cx="5522976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workspace_folder/              # koreň workspace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                     # sem patrí všetko, čo píšete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package_1/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src/               # .cpp súbory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include/           # hlavičky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launch/            # launch súbory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├── CMakeLists.txt     # ako sa to builduje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└── package.xml        # od čoho to závisí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F2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build/  install/  log/     # generované — negitovať!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766560" y="1691640"/>
            <a:ext cx="4846320" cy="3108960"/>
          </a:xfrm>
          <a:prstGeom prst="roundRect">
            <a:avLst>
              <a:gd name="adj" fmla="val 1765"/>
            </a:avLst>
          </a:prstGeom>
          <a:solidFill>
            <a:srgbClr val="132238"/>
          </a:solidFill>
          <a:ln/>
        </p:spPr>
      </p:sp>
      <p:sp>
        <p:nvSpPr>
          <p:cNvPr id="7" name="Text 5"/>
          <p:cNvSpPr/>
          <p:nvPr/>
        </p:nvSpPr>
        <p:spPr>
          <a:xfrm>
            <a:off x="7022592" y="1856232"/>
            <a:ext cx="4334256" cy="2779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mkdir -p ~/ros2_ws/src &amp;&amp; cd ~/ros2_ws/src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pkg create --build-type ament_cmake \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--dependencies rclcpp geometry_msgs my_pkg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~/ros2_ws &amp;&amp; colcon build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install/setup.bash   # v KAŽDOM novom terminále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run my_pkg my_node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BEDEA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33D"/>
                </a:solidFill>
              </a:rPr>
              <a:t>Build error pomenúva hlavičku, ktorá „určite existuje"? 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D"/>
                </a:solidFill>
              </a:rPr>
              <a:t>Zmažte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4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build/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D"/>
                </a:solidFill>
              </a:rPr>
              <a:t> a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24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install/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7233D"/>
                </a:solidFill>
              </a:rPr>
              <a:t> a buildnite znova — zastaraná CMake cache vyzerá presne ako chyba v kóde.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Základné príkazy v konzole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0624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Príkaz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čo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topic list  ·  ros2 node list  ·  ros2 service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čo existuje — a presné meno topiku (preklep je tichý)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topic echo /mavros/local_position/pose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čítanie topiku — poloha v ENU metroch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topic hz &lt;topic&gt;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skutočná frekvencia — na nej stojí plynulosť riadenia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topic info &lt;topic&gt;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správy → viete, akú knižnicu (depend) potrebujete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interface show mavros_msgs/msg/PositionTarget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presné polia správy — najmä type_mask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param list/get/set …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 — namiesto prepisovania čísel v kóde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bag record -a -o run_$(date +%F_%H%M%S)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nahrajte KAŽDÝ beh misie — dôkaz aj ladenie zadarmo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Užitočné MAVROS topics a services</a:t>
            </a:r>
            <a:endParaRPr lang="en-US" sz="3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480560"/>
        </p:xfrm>
        <a:graphic>
          <a:graphicData uri="http://schemas.openxmlformats.org/drawingml/2006/table">
            <a:tbl>
              <a:tblPr/>
              <a:tblGrid>
                <a:gridCol w="4297680"/>
                <a:gridCol w="3383280"/>
                <a:gridCol w="3383280"/>
              </a:tblGrid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/ service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Čo dáva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/mavros/state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mavros_msgs/State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connected, armed, aktuálny mód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/mavros/local_position/pose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geometry_msgs/PoseStamped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lokálna poloha + orientácia — ENU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/mavros/global_position/global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sensor_msgs/NavSatFix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lat/lon/AMSL nadmorská výška, stav fixu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/mavros/global_position/compass_hdg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std_msgs/Float64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kurz v stupňoch od severu, v smere hodinových ručičiek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/mavros/home_position/home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mavros_msgs/HomePosition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kde je domov (home)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/mavros/setpoint_raw/local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mavros_msgs/PositionTarget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pozícia/rýchlosť/zrýchlenie + yaw setpoint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/mavros/setpoint_raw/global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mavros_msgs/GlobalPositionTarget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isté, v lat/lon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97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set_mode, cmd/arming, cmd/takeoff, cmd/land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7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zmena módu, arm, vzlet, pristátie</a:t>
                      </a:r>
                      <a:endParaRPr lang="en-US" sz="11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5647F"/>
                </a:solidFill>
              </a:rPr>
              <a:t>Neverte tejto tabuľke naslepo — overte cez ros2 topic list a ros2 interface show na verzii MAVROS, ktorú máte nainštalovanú.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 vs. NED — čo vás pokope najčastejšie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1920240"/>
        </p:xfrm>
        <a:graphic>
          <a:graphicData uri="http://schemas.openxmlformats.org/drawingml/2006/table">
            <a:tbl>
              <a:tblPr/>
              <a:tblGrid>
                <a:gridCol w="3566160"/>
                <a:gridCol w="1463040"/>
                <a:gridCol w="1463040"/>
                <a:gridCol w="1463040"/>
                <a:gridCol w="1463040"/>
                <a:gridCol w="1645920"/>
              </a:tblGrid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Yaw = 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Smer rastu yaw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 (ROS, MAVROS topics)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proti smeru hod. ručičiek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 (MAVLink, ArduPilot interne)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smere hod. ručičiek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Kompas (compass_hdg)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smere hod. ručičiek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7947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yaw_ENU = 90° − heading</a:t>
            </a:r>
            <a:pPr indent="0" marL="0">
              <a:buNone/>
            </a:pPr>
            <a:r>
              <a:rPr lang="en-US" sz="1300" dirty="0">
                <a:solidFill>
                  <a:srgbClr val="55647F"/>
                </a:solidFill>
              </a:rPr>
              <a:t>   (zabalené do (−180°, 180°])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4892040"/>
            <a:ext cx="110642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MAVROS prevádza medzi ENU a NED za vás na väčšine topikov — ale NIE vo vašej vlastnej matematike.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Zrkadlová alebo o 90° pootočená trajektória je takmer vždy práve toto — vypíšte si oba uhly a porovnajte, vždy.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Rovnaký problém sa vracia v A1.2 (yaw úloha), aj v A1.3 (kompas vs. GPS heading).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Písanie uzla — subscriber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2103120"/>
          </a:xfrm>
          <a:prstGeom prst="roundRect">
            <a:avLst>
              <a:gd name="adj" fmla="val 2609"/>
            </a:avLst>
          </a:prstGeom>
          <a:solidFill>
            <a:srgbClr val="13223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56232"/>
            <a:ext cx="10552176" cy="1773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člen triedy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rclcpp::Subscription&lt;geometry_msgs::msg::PoseStamped&gt;::SharedPtr pose_sub_;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7FA8C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v konštruktore — POZOR na QoS!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pose_sub_ = create_subscription&lt;geometry_msgs::msg::PoseStamped&gt;(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"mavros/local_position/pose", rclcpp::SensorDataQoS(),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std::bind(&amp;MyNode::pose_cb, this, std::placeholders::_1));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97764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FBEDEA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Najčastejšia tichá chyba v tomto predmete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3D"/>
                </a:solidFill>
              </a:rPr>
              <a:t>MAVROS publikuje senzorové topiky ako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 effort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3D"/>
                </a:solidFill>
              </a:rPr>
              <a:t>. Subscriber s predvolenou (reliable) QoS nedostane ticho vôbec nič — topic je v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list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3D"/>
                </a:solidFill>
              </a:rPr>
              <a:t>,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topic echo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3D"/>
                </a:solidFill>
              </a:rPr>
              <a:t> dáta ukazuje, a váš callback sa aj tak nikdy nespustí. Použite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C24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rclcpp::SensorDataQoS()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7233D"/>
                </a:solidFill>
              </a:rPr>
              <a:t>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Písanie uzla — publisher a timer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3429000"/>
          </a:xfrm>
          <a:prstGeom prst="roundRect">
            <a:avLst>
              <a:gd name="adj" fmla="val 1600"/>
            </a:avLst>
          </a:prstGeom>
          <a:solidFill>
            <a:srgbClr val="13223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56232"/>
            <a:ext cx="10552176" cy="3099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setpoint_pub_ = create_publisher&lt;mavros_msgs::msg::PositionTarget&gt;(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"mavros/setpoint_raw/local", 10);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namespace std::chrono_literals;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F2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timer_ = create_wall_timer(50ms, std::bind(&amp;MyNode::publish_sp, this));  // 20 Hz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publish_sp() {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mavros_msgs::msg::PositionTarget sp;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sp.coordinate_frame = PositionTarget::FRAME_LOCAL_NED;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sp.type_mask = /* bity polí, ktoré NEPOUŽÍVATE */;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sp.position.x = ...; sp.yaw = ...;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setpoint_pub_-&gt;publish(sp);</a:t>
            </a:r>
            <a:endParaRPr lang="en-US" sz="123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3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30" dirty="0"/>
          </a:p>
        </p:txBody>
      </p:sp>
      <p:sp>
        <p:nvSpPr>
          <p:cNvPr id="6" name="Shape 4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D"/>
                </a:solidFill>
              </a:rPr>
              <a:t>Setpointy posielajte na časovači (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wall_timer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D"/>
                </a:solidFill>
              </a:rPr>
              <a:t>), nikdy v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243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+ sleep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D"/>
                </a:solidFill>
              </a:rPr>
              <a:t> — to zablokuje celý executor. A vypočítajte </a:t>
            </a:r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type_mask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D"/>
                </a:solidFill>
              </a:rPr>
              <a:t> z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ros2 interface show mavros_msgs/msg/PositionTarget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7233D"/>
                </a:solidFill>
              </a:rPr>
              <a:t> — zlá hodnota = autopilot ticho zahodí váš yaw alebo pozíciu.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Služby — arm, mód, takeoff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13223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56232"/>
            <a:ext cx="10552176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client = create_client&lt;mavros_msgs::srv::CommandBool&gt;("mavros/cmd/arming");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client-&gt;wait_for_service(5s);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req = std::make_shared&lt;mavros_msgs::srv::CommandBool::Request&gt;();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D7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req-&gt;value = true;</a:t>
            </a:r>
            <a:endParaRPr lang="en-US" sz="13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F2B2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 future = client-&gt;async_send_request(req);   // asynchrónne!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611880"/>
            <a:ext cx="11064240" cy="2423160"/>
          </a:xfrm>
          <a:prstGeom prst="roundRect">
            <a:avLst>
              <a:gd name="adj" fmla="val 3019"/>
            </a:avLst>
          </a:prstGeom>
          <a:solidFill>
            <a:srgbClr val="FBEDEA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37490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Druhá najčastejšia príčina „visiaceho" uzla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Nikdy nevolajte spin_until_future_complete() z vnútra callbacku — uzol už spinuje a toto ho deadlockne.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Odpoveď spracujte asynchrónne, alebo volanie robte z osobitnej callback group.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Rovnaký princíp platí pre set_mode aj takeoff/land services.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Executory a callback groups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Váš uzol musí robiť viac vecí naraz: posielať setpointy na 20 Hz, spracovať prichádzajúcu pózu, a bežať plánovač, ktorý môže trvať sekundu. Jednovláknový executor necháva pomalý callback zablokovať všetko ostatné.</a:t>
            </a:r>
            <a:endParaRPr lang="en-US" sz="135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06424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2926080"/>
                <a:gridCol w="1645920"/>
                <a:gridCol w="37490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Skupina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Frekvencia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Účel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imu_sim_tick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imu_sim_group_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rýchla syntetická záťaž bez závislostí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vision_sim_tick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vision_sim_group_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Hz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pomalá záťaž (umelé 30 ms oneskorenie)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mavros_imu_cb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mavros_imu_group_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reálny subscriber: mavros/imu/data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mavros_pose_cb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mavros_pose_group_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reálny subscriber: mavros/local_position/pose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6177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4754880"/>
            <a:ext cx="10515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mt_executor_demo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33D"/>
                </a:solidFill>
              </a:rPr>
              <a:t> v repozitári je hotový príklad: štyri callbacky, každý vo vlastnej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MutuallyExclusive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33D"/>
                </a:solidFill>
              </a:rPr>
              <a:t> skupine, spinnuté cez </a:t>
            </a:r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rclcpp::executors::MultiThreadedExecutor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33D"/>
                </a:solidFill>
              </a:rPr>
              <a:t>. Spustite ho, potom vymeňte za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SingleThreadedExecutor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7233D"/>
                </a:solidFill>
              </a:rPr>
              <a:t> — rozdiel v logoch uvidíte do sekundy: 100 Hz tik sa začne zadrhávať za 30 ms oneskorením.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Nahrávanie a vizualizácia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11480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Nástroj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Prečo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ros2 bag record -a -o run_$(date +%F_%H%M%S)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Nahrajte KAŽDÝ beh misie. Nestojí to nič a je to váš dôkaz, keď sa niečo pokazí na cudzom počítači.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rviz2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Trajektórie, markery, point cloudy — publikujte si vlastnú plánovanú cestu ako Path/MarkerArray a porovnajte s odletenou.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rqt_graph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Kto s kým hovorí — uzly, topiky a smer toku dát.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PlotJuggler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Živé alebo zo záznamu — najrýchlejší spôsob, ako vidieť, či váš regulátor osciluje.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SITL · MAVROS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Časté problémy</a:t>
            </a:r>
            <a:endParaRPr lang="en-US" sz="3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480560"/>
        </p:xfrm>
        <a:graphic>
          <a:graphicData uri="http://schemas.openxmlformats.org/drawingml/2006/table">
            <a:tbl>
              <a:tblPr/>
              <a:tblGrid>
                <a:gridCol w="4206240"/>
                <a:gridCol w="6858000"/>
              </a:tblGrid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Príznak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Pozrite sa 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Callback sa nikdy nespustí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QoS mismatch (SensorDataQoS), alebo preklep v mene topiku — ros2 topic list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chyba pomenúva hlavičku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chýbajúci záznam v package.xml / CMakeLists.txt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Uzol zamrzne pri service 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spin_until_future_complete() volané z vnútra callbacku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 ignoruje časť setpointu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type_mask — ros2 interface show mavros_msgs/msg/PositionTarget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 nechce armovať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čítajte konzolu SITL — pomenuje presný pre-arm check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Trajektória zrkadlená / o 90° pootočená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 vs. NED — pozri slajd o konvenciách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Všetko sa sekundu-po-sekunde zadrháva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jednovláknový executor s pomalým callbackom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21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017520"/>
            <a:ext cx="5029200" cy="50292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Zadanie 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Autonómna misia — indoor + outdoor  ·  20 bodov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Cieľ a štruktúra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balík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ktorý autonómne lieta dronom v dvoch prostrediach: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(hangár FEI, 3D mapa + waypointy s úlohami) 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(GPS + kompas, geometrická misia). Outdoor časť beží aj na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2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reálnom dróne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je to jeden program, nie dva samostatné projekty; outdoor znova používa váš riadiaci uzol, stavový automat aj position controller.</a:t>
            </a:r>
            <a:endParaRPr lang="en-US" sz="15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7315200" cy="2834640"/>
        </p:xfrm>
        <a:graphic>
          <a:graphicData uri="http://schemas.openxmlformats.org/drawingml/2006/table">
            <a:tbl>
              <a:tblPr/>
              <a:tblGrid>
                <a:gridCol w="914400"/>
                <a:gridCol w="530352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Podzadanie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Mapovanie a plánovanie trajektórie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Vykonanie misie — indoor let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Outdoor misia — GPS, kompas, figure-8   ·  NOVÉ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A1.4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Dokumentácia a obhajoba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38160" y="292608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138160" y="306324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138160" y="3977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647F"/>
                </a:solidFill>
              </a:rPr>
              <a:t>bodov spolu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366760" y="443484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7233D"/>
                </a:solidFill>
              </a:rPr>
              <a:t>Dá sa odovzdávať a obhajovať priebežne — nečakajte na 6. týždeň.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Príklad misie (indoor)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Misia je zoznam waypointov, každý s presnosťou a úlohou. Toto sú CIEĽOVÉ body, nie letová trajektória — tú medzi nimi nájde váš planner z A1.1.</a:t>
            </a:r>
            <a:endParaRPr lang="en-US" sz="135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64240" cy="3108960"/>
        </p:xfrm>
        <a:graphic>
          <a:graphicData uri="http://schemas.openxmlformats.org/drawingml/2006/table">
            <a:tbl>
              <a:tblPr/>
              <a:tblGrid>
                <a:gridCol w="731520"/>
                <a:gridCol w="1737360"/>
                <a:gridCol w="1737360"/>
                <a:gridCol w="1737360"/>
                <a:gridCol w="2103120"/>
                <a:gridCol w="301752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presnosť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úloha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takeoff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yaw180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landtakeoff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yaw90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13.60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723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>
                    <a:lnL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C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obhajobe dostanete misijný súbor, ktorý ste ešte nevideli — v tomto formáte.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· A1.1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Mapovanie a plánovanie trajektórie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81360" y="777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54864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</a:t>
            </a:r>
            <a:endParaRPr lang="en-US" sz="130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cloud hangáru (.pcd) → voxel grid / octree, s inflated prekážkami (konfigurovateľný bezpečnostný polomer)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C2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Regály sú SOLÍDNE prekážky</a:t>
            </a:r>
            <a:endParaRPr lang="en-US" sz="130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vizuálne vyzerajú priehľadne, ale kolízia je jeden pevný box — plánovač musí obísť, nikdy nepreletieť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Plánovanie</a:t>
            </a:r>
            <a:endParaRPr lang="en-US" sz="130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pokročilý 3D algoritmus — A*, RRT/RRT* — nie 2D vrstvy, nie plain BFS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Očistenie trajektórie</a:t>
            </a:r>
            <a:endParaRPr lang="en-US" sz="130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odstránenie nadbytočných bodov (kolineárne, line-of-sight, spline) — menej bodov = plynulejší let v A1.2</a:t>
            </a:r>
            <a:endParaRPr lang="en-US" sz="1300" dirty="0"/>
          </a:p>
        </p:txBody>
      </p:sp>
      <p:pic>
        <p:nvPicPr>
          <p:cNvPr id="7" name="Image 0" descr="/tmp/slide_media/LRSzad1/slide_05/img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91640"/>
            <a:ext cx="3931920" cy="1965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09360" y="3685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647F"/>
                </a:solidFill>
              </a:rPr>
              <a:t>Inflácia prekážok o bezpečnostný polomer</a:t>
            </a:r>
            <a:endParaRPr lang="en-US" sz="1050" dirty="0"/>
          </a:p>
        </p:txBody>
      </p:sp>
      <p:pic>
        <p:nvPicPr>
          <p:cNvPr id="9" name="Image 1" descr="/tmp/slide_media/LRSzad1/slide_06/img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60520"/>
            <a:ext cx="5486400" cy="1959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09360" y="614738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647F"/>
                </a:solidFill>
              </a:rPr>
              <a:t>Očistenie trajektórie — pred a po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· A1.2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Vykonanie misie — indoor let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81360" y="777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Riadiaci uzol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Stavový automat: IDLE → SET_MODE → ARM → TAKEOFF → NAVIGATE → TASK → … → LAND → DONE (logovaný)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Počká na /mavros/state == connected, nastaví GUIDED, armuje — a KONTROLUJE odpovede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Setpointy stále na 10–20 Hz, nie jeden za waypoint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Príkazy: takeoff · land · landtakeoff (po pristátí ArduPilot môže disarmnúť — treba re-arm!) · yaw &lt;uhol&gt;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Presnosť: soft vs. hard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1488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</a:t>
            </a:r>
            <a:endParaRPr lang="en-US" sz="125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tesná tolerancia — dron sa musí naozaj zastaviť a ustáliť (~10–20 cm v simulácii)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</a:t>
            </a:r>
            <a:endParaRPr lang="en-US" sz="125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voľná tolerancia — preletí bez zastavenia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C24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Pasca: waypointy ≠ body dráhy</a:t>
            </a:r>
            <a:endParaRPr lang="en-US" sz="125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presnosť majú len misijné waypointy; medziľahlé body z plánovača sú priechodné — veľký polomer, nikdy nulová rýchlosť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Predvolený smer nosa = smer letu</a:t>
            </a:r>
            <a:endParaRPr lang="en-US" sz="1250" dirty="0"/>
          </a:p>
          <a:p>
            <a:pPr lvl="1" marL="457200" indent="-228600">
              <a:lnSpc>
                <a:spcPct val="108000"/>
              </a:lnSpc>
              <a:spcAft>
                <a:spcPts val="800"/>
              </a:spcAft>
              <a:buSzPct val="100000"/>
              <a:buChar char="–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yaw úloha platí len na danom bode, potom späť na smer ďalšieho segmentu (atan2, rozbaliť uhol)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9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· A1.2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— indoor misia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4206240"/>
          </a:xfrm>
          <a:prstGeom prst="roundRect">
            <a:avLst>
              <a:gd name="adj" fmla="val 1739"/>
            </a:avLst>
          </a:prstGeom>
          <a:solidFill>
            <a:srgbClr val="1E2E52"/>
          </a:solidFill>
          <a:ln/>
        </p:spPr>
      </p:sp>
      <p:sp>
        <p:nvSpPr>
          <p:cNvPr id="5" name="Text 3"/>
          <p:cNvSpPr/>
          <p:nvPr/>
        </p:nvSpPr>
        <p:spPr>
          <a:xfrm>
            <a:off x="5120640" y="24688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🎬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sa doplní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920240" y="402336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9C7E8"/>
                </a:solidFill>
              </a:rPr>
              <a:t>presentation/indoor_mission.mp4 v repozitári je poškodené (chýba moov atom) — po dodaní funkčnej nahrávky ju sem doplníme.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· A1.3  ·  NOVÉ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Outdoor misia — GPS a kompas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81360" y="777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7b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Vonku dostávate GPS a magnetický kompas namiesto dokonalej lokálnej polohy zo simulátora — a táto časť lieta aj na reálnom dróne.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6035040" cy="4206240"/>
          </a:xfrm>
          <a:prstGeom prst="roundRect">
            <a:avLst>
              <a:gd name="adj" fmla="val 1739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240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Misia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54864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Vzlet na 5 m nad bodom štartu, stabilizácia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Štvorec so stranou 5 m — nos stále mieri na pevný bod záujmu (POI) na zemi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Figure-8 (6 × 3 m) okolo POI — kontinuálna trajektória z časovača, NIE zoznam waypointov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Natočenie podľa dotyčnice trajektórie (tangent heading)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Návrat na štart, bezpečné pristátie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66560" y="2103120"/>
            <a:ext cx="4892040" cy="4206240"/>
          </a:xfrm>
          <a:prstGeom prst="roundRect">
            <a:avLst>
              <a:gd name="adj" fmla="val 1739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040880" y="2240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Kľúčové vzorce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26517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x(t) = A·sin(t)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y(t) = A·sin(t)·cos(t)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yaw(t) = atan2(ẏ, ẋ)   — rozbaliť!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yaw_ENU = 90° − heading_kompas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43434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= 3 m, S = 5 m, výška 5 m — pevné; ω je váš parameter (napr. ω ≈ 0.35 rad/s pri limite 1.5 m/s)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Home/EKF origin sa mení pri každom spustení — žiadna súradnica naharkódovaná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· A1.3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Pred-letová kontrola pre reálny dron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Kompletná misia lieta v simulácii, bez zásahu, dvakrát za sebou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Žiadne naharkódované absolútne súradnice — všetko relatívne k home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Uzol počká na kvalitný GPS fix a odmieta armovať bez neho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7920" y="169164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Geofence: max. vzdialenosť od home a max. výška spočítané a v limitoch (~3.5 m horizontálne, 5 m vertikálne)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Abort/failsafe cesta funguje a je odskúšaná v simulácii</a:t>
            </a:r>
            <a:endParaRPr lang="en-US" sz="1350" dirty="0"/>
          </a:p>
          <a:p>
            <a:pPr marL="342900" indent="-342900">
              <a:lnSpc>
                <a:spcPct val="108000"/>
              </a:lnSpc>
              <a:spcAft>
                <a:spcPts val="1400"/>
              </a:spcAft>
              <a:buSzPct val="100000"/>
              <a:buChar char="▪"/>
            </a:pPr>
            <a:r>
              <a:rPr lang="en-US" sz="13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Konvencia kompasu overená, nie predpokladaná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BEDEA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5029200"/>
            <a:ext cx="10515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C2432B"/>
                </a:solidFill>
              </a:rPr>
              <a:t>Vždy s učiteľom prítomným a bezpečnostným pilotom s RC vysielačom, ktorý môže kedykoľvek prevziať riadenie.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33D"/>
                </a:solidFill>
              </a:rPr>
              <a:t>Nikdy nezapínajte reálne zariadenie bez učiteľa. Podmienky odomknutia sú na slajde „Lietanie na reálnom UAV" v 1. kapitole.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A9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· A1.3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— outdoor misia</a:t>
            </a:r>
            <a:endParaRPr lang="en-US" sz="30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737360" y="1600200"/>
            <a:ext cx="8732520" cy="49103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 · A1.4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Dokumentácia a obhajoba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0881360" y="7772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/>
          <p:nvPr/>
        </p:nvSpPr>
        <p:spPr>
          <a:xfrm>
            <a:off x="10881360" y="777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Analýza prístupov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488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 každé významné rozhodnutie: čo ste zvolili, ako to funguje, prečo práve toto, a AKÉ SÚ NEVÝHODY.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Povinne pokryté: reprezentácia mapy, inflácia, plánovací algoritmus, post-processing, tolerancie, heading policy, geodetická konverzia, konvencie uhlov, parametre figure-8.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15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Nefunkčná časť? Napíšte to — čestná sekcia limitov skóruje, predstieraná dokonalosť nie.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80760" y="1600200"/>
            <a:ext cx="5349240" cy="4709160"/>
          </a:xfrm>
          <a:prstGeom prst="roundRect">
            <a:avLst>
              <a:gd name="adj" fmla="val 1553"/>
            </a:avLst>
          </a:prstGeom>
          <a:solidFill>
            <a:srgbClr val="F4F7FB"/>
          </a:solidFill>
          <a:ln w="9525">
            <a:solidFill>
              <a:srgbClr val="DCE4EF"/>
            </a:solidFill>
            <a:prstDash val="solid"/>
          </a:ln>
          <a:effectLst>
            <a:outerShdw sx="100000" sy="100000" kx="0" ky="0" algn="bl" rotWithShape="0" blurRad="76200" dist="25400" dir="5400000">
              <a:srgbClr val="203A5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737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Diagramy a obhajoba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2148840"/>
            <a:ext cx="48463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Aspoň dva diagramy: tok spracovania dát (mapa/misia → plánovanie → setpointy) a ROS diagram (uzly, topiky, callback groups)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obhajobe: spustíte misiu z čistého checkoutu, vysvetlíte kód, urobíte malú zmenu na požiadanie (napr. iný polomer inflácie)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7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Tímová práca: obhajuje SA KAŽDÝ ČLEN samostatne — musí vedieť vysvetliť celé riešenie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Pravidlá, ktoré ovplyvňujú hodnotenie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07008" y="16459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7233D"/>
                </a:solidFill>
              </a:rPr>
              <a:t>Odletená trajektória musí pochádzať z vášho plánovača — hardkódované waypointy namiesto výstupu z A1.1 → A1.2 max. 50 %.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645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76288" y="16459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7233D"/>
                </a:solidFill>
              </a:rPr>
              <a:t>Tangent heading a return-to-launch body v A1.3 vyžadujú, aby figure-8 SKUTOČNE odletela.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7008" y="32461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7233D"/>
                </a:solidFill>
              </a:rPr>
              <a:t>Dokumentácia je dokumentáciou FUNKČNÉHO riešenia, nie náhradou zaň.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76288" y="32461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7233D"/>
                </a:solidFill>
              </a:rPr>
              <a:t>Dron smeruje kam letí — okrem yaw úlohy a vzlet/pristátie manévru. Let bokom nezaskóruje heading body.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07008" y="48463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7233D"/>
                </a:solidFill>
              </a:rPr>
              <a:t>Hodnotí sa to, čo beží na obhajobe, na čistom checkoute vášho repozitára. „Fungovalo mi to včera" = nula.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6217920" y="48463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76288" y="4846320"/>
            <a:ext cx="50292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20" dirty="0">
                <a:solidFill>
                  <a:srgbClr val="17233D"/>
                </a:solidFill>
              </a:rPr>
              <a:t>Za používanie LLM/knižníc nie je penalizácia — za nevedieť vysvetliť to, čo ste odovzdali, áno: daná časť skóruje nula.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Kde začať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69164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7233D"/>
                </a:solidFill>
              </a:rPr>
              <a:t>Rozbehnite simuláciu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5647F"/>
                </a:solidFill>
              </a:rPr>
              <a:t>— gz sim + SITL + MAVROS ručne, tri terminály — v 1. týždni, nie v 5.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86207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862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862072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7233D"/>
                </a:solidFill>
              </a:rPr>
              <a:t>Precvičte si ROS 2 workspace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5647F"/>
                </a:solidFill>
              </a:rPr>
              <a:t>— tutorial/ros2_cheatsheet.md a postavte mt_executor_demo — dá vám to funkčný workspace aj štruktúru uzla.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4032504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4032504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7233D"/>
                </a:solidFill>
              </a:rPr>
              <a:t>Prečítajte useful_links.md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5647F"/>
                </a:solidFill>
              </a:rPr>
              <a:t>— najmä zoznam MAVROS topics/services a MAVLink POSITION_TARGET — budete to mať otvorené neustále.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5202936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5202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5202936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7233D"/>
                </a:solidFill>
              </a:rPr>
              <a:t>Lietajte ručne z terminálu 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5647F"/>
                </a:solidFill>
              </a:rPr>
              <a:t>— ros2 service call / ros2 topic pub — arm, vzlet, jeden setpoint. Keď to funguje ručne, uzol je hlavne to isté v slučke.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LRS-URK  ·  Cvičenie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64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521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486400" cy="54864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Ďakujeme za pozornosť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 na vaše otázky.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3429000"/>
            <a:ext cx="2926080" cy="0"/>
          </a:xfrm>
          <a:prstGeom prst="line">
            <a:avLst/>
          </a:prstGeom>
          <a:noFill/>
          <a:ln w="28575">
            <a:solidFill>
              <a:srgbClr val="E8A3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49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drive.google.com/drive/folders/1QdG5tw1aGTgOuVNYAXl9BhDGObsHb8TW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github.com/KocurMaros/LRS-URK</a:t>
            </a:r>
            <a:pPr indent="0" marL="0">
              <a:buNone/>
            </a:pPr>
            <a:r>
              <a:rPr lang="en-US" sz="14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(vetva exams)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assignments/assignment1/</a:t>
            </a:r>
            <a:pPr indent="0" marL="0">
              <a:buNone/>
            </a:pPr>
            <a:r>
              <a:rPr lang="en-US" sz="1400" dirty="0">
                <a:solidFill>
                  <a:srgbClr val="7C8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 repozitári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2026-09-05T15:07:20Z</dcterms:created>
  <dcterms:modified xsi:type="dcterms:W3CDTF">2026-09-05T15:07:20Z</dcterms:modified>
</cp:coreProperties>
</file>